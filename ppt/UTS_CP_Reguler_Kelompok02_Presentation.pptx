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EC4F85-8526-4C2B-A13F-BEFBD704E3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DA90F80-9A3E-405E-AA91-1D3FD60738C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8111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27800" cy="6858000"/>
          </a:xfrm>
          <a:prstGeom prst="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40080" y="548640"/>
            <a:ext cx="1143000" cy="73080"/>
          </a:xfrm>
          <a:prstGeom prst="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40080" y="749520"/>
            <a:ext cx="3657600" cy="16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26d0ce"/>
                </a:solidFill>
                <a:latin typeface="Arial"/>
              </a:rPr>
              <a:t>UTS PRAKTIKUM</a:t>
            </a:r>
            <a:endParaRPr b="1" lang="en-US" sz="11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40080" y="1042200"/>
            <a:ext cx="5852160" cy="120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400" spc="-1" strike="noStrike">
                <a:solidFill>
                  <a:srgbClr val="f5f7fa"/>
                </a:solidFill>
                <a:latin typeface="Arial"/>
              </a:rPr>
              <a:t>Communication</a:t>
            </a:r>
            <a:endParaRPr b="1" lang="en-US" sz="3400" spc="-1" strike="noStrike">
              <a:solidFill>
                <a:srgbClr val="f5f7fa"/>
              </a:solidFill>
              <a:latin typeface="Arial"/>
            </a:endParaRPr>
          </a:p>
          <a:p>
            <a:r>
              <a:rPr b="1" lang="en-US" sz="3400" spc="-1" strike="noStrike">
                <a:solidFill>
                  <a:srgbClr val="f5f7fa"/>
                </a:solidFill>
                <a:latin typeface="Arial"/>
              </a:rPr>
              <a:t>Protocol</a:t>
            </a:r>
            <a:endParaRPr b="1" lang="en-US" sz="34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58080" y="2441160"/>
            <a:ext cx="3657600" cy="23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ffb454"/>
                </a:solidFill>
                <a:latin typeface="Arial"/>
              </a:rPr>
              <a:t>Case A - REST API JSON</a:t>
            </a:r>
            <a:endParaRPr b="1" lang="en-US" sz="15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658080" y="2862000"/>
            <a:ext cx="5577840" cy="29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00" spc="-1" strike="noStrike">
                <a:solidFill>
                  <a:srgbClr val="a8b5c6"/>
                </a:solidFill>
                <a:latin typeface="Arial"/>
              </a:rPr>
              <a:t>API Request | Data Encoding | Packet Capture | Python Parsing</a:t>
            </a:r>
            <a:endParaRPr b="0" lang="en-US" sz="110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58080" y="3401280"/>
            <a:ext cx="4754880" cy="25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f5f7fa"/>
                </a:solidFill>
                <a:latin typeface="Arial"/>
              </a:rPr>
              <a:t>Kelompok 02 - Sains Data Reguler</a:t>
            </a:r>
            <a:endParaRPr b="1" lang="en-US" sz="15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537960" y="713160"/>
            <a:ext cx="4983480" cy="8409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711480" y="868320"/>
            <a:ext cx="502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700" spc="-1" strike="noStrike">
                <a:solidFill>
                  <a:srgbClr val="26d0ce"/>
                </a:solidFill>
                <a:latin typeface="Arial"/>
              </a:rPr>
              <a:t>01</a:t>
            </a:r>
            <a:endParaRPr b="1" lang="en-US" sz="17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333200" y="831960"/>
            <a:ext cx="3931920" cy="16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50" spc="-1" strike="noStrike">
                <a:solidFill>
                  <a:srgbClr val="f5f7fa"/>
                </a:solidFill>
                <a:latin typeface="Arial"/>
              </a:rPr>
              <a:t>Zahir Ali Izzaturahman</a:t>
            </a:r>
            <a:endParaRPr b="1" lang="en-US" sz="11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333200" y="1152000"/>
            <a:ext cx="3931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API Tester &amp; Postman Collection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537960" y="1654920"/>
            <a:ext cx="4983480" cy="8409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711480" y="1810080"/>
            <a:ext cx="502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700" spc="-1" strike="noStrike">
                <a:solidFill>
                  <a:srgbClr val="26d0ce"/>
                </a:solidFill>
                <a:latin typeface="Arial"/>
              </a:rPr>
              <a:t>02</a:t>
            </a:r>
            <a:endParaRPr b="1" lang="en-US" sz="17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333200" y="1773720"/>
            <a:ext cx="3931920" cy="16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50" spc="-1" strike="noStrike">
                <a:solidFill>
                  <a:srgbClr val="f5f7fa"/>
                </a:solidFill>
                <a:latin typeface="Arial"/>
              </a:rPr>
              <a:t>Stephanus Teo</a:t>
            </a:r>
            <a:endParaRPr b="1" lang="en-US" sz="11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7333200" y="2093760"/>
            <a:ext cx="3931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Packet Capture &amp; Troubleshooting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537960" y="2596680"/>
            <a:ext cx="4983480" cy="8409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6711480" y="2751840"/>
            <a:ext cx="502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700" spc="-1" strike="noStrike">
                <a:solidFill>
                  <a:srgbClr val="26d0ce"/>
                </a:solidFill>
                <a:latin typeface="Arial"/>
              </a:rPr>
              <a:t>03</a:t>
            </a:r>
            <a:endParaRPr b="1" lang="en-US" sz="17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333200" y="2715480"/>
            <a:ext cx="3931920" cy="16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50" spc="-1" strike="noStrike">
                <a:solidFill>
                  <a:srgbClr val="f5f7fa"/>
                </a:solidFill>
                <a:latin typeface="Arial"/>
              </a:rPr>
              <a:t>Enrico Lazuardi</a:t>
            </a:r>
            <a:endParaRPr b="1" lang="en-US" sz="11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7333200" y="3035520"/>
            <a:ext cx="3931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Data Format Analysis &amp; Python Parsing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537960" y="3538440"/>
            <a:ext cx="4983480" cy="8409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711480" y="3693600"/>
            <a:ext cx="50292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700" spc="-1" strike="noStrike">
                <a:solidFill>
                  <a:srgbClr val="26d0ce"/>
                </a:solidFill>
                <a:latin typeface="Arial"/>
              </a:rPr>
              <a:t>04</a:t>
            </a:r>
            <a:endParaRPr b="1" lang="en-US" sz="17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333200" y="3657240"/>
            <a:ext cx="3931920" cy="16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50" spc="-1" strike="noStrike">
                <a:solidFill>
                  <a:srgbClr val="f5f7fa"/>
                </a:solidFill>
                <a:latin typeface="Arial"/>
              </a:rPr>
              <a:t>Leroy Christopher Gerson</a:t>
            </a:r>
            <a:endParaRPr b="1" lang="en-US" sz="11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7333200" y="3977280"/>
            <a:ext cx="39319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Report, PPT, GitHub &amp; Backup Presenter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58080" y="4572000"/>
            <a:ext cx="1417320" cy="31068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26d0c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58080" y="4611240"/>
            <a:ext cx="1417320" cy="207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ctr">
            <a:noAutofit/>
          </a:bodyPr>
          <a:p>
            <a:pPr algn="ctr"/>
            <a:r>
              <a:rPr b="1" lang="en-US" sz="1050" spc="-1" strike="noStrike">
                <a:solidFill>
                  <a:srgbClr val="26d0ce"/>
                </a:solidFill>
                <a:latin typeface="Arial"/>
              </a:rPr>
              <a:t>HTTP :8088</a:t>
            </a:r>
            <a:endParaRPr b="1" lang="en-US" sz="105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2212560" y="4572000"/>
            <a:ext cx="1828800" cy="31068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6ea8f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212560" y="4611240"/>
            <a:ext cx="1828800" cy="207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ctr">
            <a:noAutofit/>
          </a:bodyPr>
          <a:p>
            <a:pPr algn="ctr"/>
            <a:r>
              <a:rPr b="1" lang="en-US" sz="1050" spc="-1" strike="noStrike">
                <a:solidFill>
                  <a:srgbClr val="6ea8fe"/>
                </a:solidFill>
                <a:latin typeface="Arial"/>
              </a:rPr>
              <a:t>4 Postman requests</a:t>
            </a:r>
            <a:endParaRPr b="1" lang="en-US" sz="1050" spc="-1" strike="noStrike">
              <a:solidFill>
                <a:srgbClr val="6ea8fe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178520" y="4572000"/>
            <a:ext cx="1920240" cy="31068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ffb45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4178520" y="4611240"/>
            <a:ext cx="1920240" cy="207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ctr">
            <a:noAutofit/>
          </a:bodyPr>
          <a:p>
            <a:pPr algn="ctr"/>
            <a:r>
              <a:rPr b="1" lang="en-US" sz="1050" spc="-1" strike="noStrike">
                <a:solidFill>
                  <a:srgbClr val="ffb454"/>
                </a:solidFill>
                <a:latin typeface="Arial"/>
              </a:rPr>
              <a:t>64 captured packets</a:t>
            </a:r>
            <a:endParaRPr b="1" lang="en-US" sz="105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58080" y="5257800"/>
            <a:ext cx="160020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67520" y="5330880"/>
            <a:ext cx="1380960" cy="263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26d0ce"/>
                </a:solidFill>
                <a:latin typeface="Arial"/>
              </a:rPr>
              <a:t>9</a:t>
            </a:r>
            <a:endParaRPr b="1" lang="en-US" sz="1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49520" y="5623560"/>
            <a:ext cx="1417320" cy="12456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evidence screenshots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2404800" y="5257800"/>
            <a:ext cx="160020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514240" y="5330880"/>
            <a:ext cx="1380960" cy="263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6ea8fe"/>
                </a:solidFill>
                <a:latin typeface="Arial"/>
              </a:rPr>
              <a:t>12</a:t>
            </a:r>
            <a:endParaRPr b="1" lang="en-US" sz="1800" spc="-1" strike="noStrike">
              <a:solidFill>
                <a:srgbClr val="6ea8fe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2496240" y="5623560"/>
            <a:ext cx="1417320" cy="12456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report pages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151160" y="5257800"/>
            <a:ext cx="182880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260600" y="5330880"/>
            <a:ext cx="1609560" cy="263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ffb454"/>
                </a:solidFill>
                <a:latin typeface="Arial"/>
              </a:rPr>
              <a:t>2 x 8</a:t>
            </a:r>
            <a:endParaRPr b="1" lang="en-US" sz="18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242600" y="5623560"/>
            <a:ext cx="1645920" cy="12456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parsed DataFrame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565320" y="5715000"/>
            <a:ext cx="4937760" cy="13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Repository evidence profile | 9 June 2026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8111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12191400" cy="73080"/>
          </a:xfrm>
          <a:prstGeom prst="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02920" y="310680"/>
            <a:ext cx="905256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00" spc="-1" strike="noStrike">
                <a:solidFill>
                  <a:srgbClr val="f5f7fa"/>
                </a:solidFill>
                <a:latin typeface="Arial"/>
              </a:rPr>
              <a:t>Case, tujuan praktikum, dan alur request</a:t>
            </a:r>
            <a:endParaRPr b="1" lang="en-US" sz="25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20920" y="758880"/>
            <a:ext cx="107899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REST API lokal sebagai jalur komunikasi client-server yang dapat diamati dan direplikasi.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502920" y="6555960"/>
            <a:ext cx="11155680" cy="6480"/>
          </a:xfrm>
          <a:prstGeom prst="rect">
            <a:avLst/>
          </a:prstGeom>
          <a:solidFill>
            <a:srgbClr val="27415e"/>
          </a:solidFill>
          <a:ln w="0">
            <a:noFill/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02920" y="6601680"/>
            <a:ext cx="5029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a8b5c6"/>
                </a:solidFill>
                <a:latin typeface="Arial"/>
              </a:rPr>
              <a:t>UTS Communication Protocol | Kelompok 02</a:t>
            </a:r>
            <a:endParaRPr b="0" lang="en-US" sz="7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1247120" y="6583680"/>
            <a:ext cx="4114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800" spc="-1" strike="noStrike">
                <a:solidFill>
                  <a:srgbClr val="26d0ce"/>
                </a:solidFill>
                <a:latin typeface="Arial"/>
              </a:rPr>
              <a:t>02</a:t>
            </a:r>
            <a:endParaRPr b="1" lang="en-US" sz="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02920" y="1234440"/>
            <a:ext cx="4709160" cy="256032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502920" y="1234440"/>
            <a:ext cx="63720" cy="2560320"/>
          </a:xfrm>
          <a:prstGeom prst="round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67440" y="1343880"/>
            <a:ext cx="4434840" cy="3949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300" spc="-1" strike="noStrike">
                <a:solidFill>
                  <a:srgbClr val="26d0ce"/>
                </a:solidFill>
                <a:latin typeface="Arial"/>
              </a:rPr>
              <a:t>CASE A - REST API JSON</a:t>
            </a:r>
            <a:endParaRPr b="1" lang="en-US" sz="13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67440" y="1673280"/>
            <a:ext cx="4434840" cy="76500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250" spc="-1" strike="noStrike">
                <a:solidFill>
                  <a:srgbClr val="f5f7fa"/>
                </a:solidFill>
                <a:latin typeface="Arial"/>
              </a:rPr>
              <a:t>- Uji 2 GET dan 2 POST melalui Postman</a:t>
            </a:r>
            <a:endParaRPr b="0" lang="en-US" sz="12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f5f7fa"/>
                </a:solidFill>
                <a:latin typeface="Arial"/>
              </a:rPr>
              <a:t>- Amati HTTP request-response dan JSON</a:t>
            </a:r>
            <a:endParaRPr b="0" lang="en-US" sz="12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f5f7fa"/>
                </a:solidFill>
                <a:latin typeface="Arial"/>
              </a:rPr>
              <a:t>- Tangkap traffic lokal dengan Wireshark</a:t>
            </a:r>
            <a:endParaRPr b="0" lang="en-US" sz="12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f5f7fa"/>
                </a:solidFill>
                <a:latin typeface="Arial"/>
              </a:rPr>
              <a:t>- Parse /api/transactions ke DataFrame dan CSV</a:t>
            </a:r>
            <a:endParaRPr b="0" lang="en-US" sz="12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412960" y="1234440"/>
            <a:ext cx="2880360" cy="256032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412960" y="1234440"/>
            <a:ext cx="63720" cy="2560320"/>
          </a:xfrm>
          <a:prstGeom prst="roundRect">
            <a:avLst/>
          </a:prstGeom>
          <a:solidFill>
            <a:srgbClr val="6ea8f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577480" y="1343880"/>
            <a:ext cx="2606040" cy="3949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300" spc="-1" strike="noStrike">
                <a:solidFill>
                  <a:srgbClr val="6ea8fe"/>
                </a:solidFill>
                <a:latin typeface="Arial"/>
              </a:rPr>
              <a:t>TUJUAN</a:t>
            </a:r>
            <a:endParaRPr b="1" lang="en-US" sz="1300" spc="-1" strike="noStrike">
              <a:solidFill>
                <a:srgbClr val="6ea8fe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577480" y="1673280"/>
            <a:ext cx="2606040" cy="9417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250" spc="-1" strike="noStrike">
                <a:solidFill>
                  <a:srgbClr val="f5f7fa"/>
                </a:solidFill>
                <a:latin typeface="Arial"/>
              </a:rPr>
              <a:t>Membuktikan seluruh pipeline komunikasi:</a:t>
            </a:r>
            <a:endParaRPr b="0" lang="en-US" sz="1250" spc="-1" strike="noStrike">
              <a:solidFill>
                <a:srgbClr val="f5f7fa"/>
              </a:solidFill>
              <a:latin typeface="Arial"/>
            </a:endParaRPr>
          </a:p>
          <a:p>
            <a:endParaRPr b="0" lang="en-US" sz="12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f5f7fa"/>
                </a:solidFill>
                <a:latin typeface="Arial"/>
              </a:rPr>
              <a:t>client -&gt; protocol -&gt; server -&gt; format data -&gt; analisis tabular</a:t>
            </a:r>
            <a:endParaRPr b="0" lang="en-US" sz="12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503920" y="1234440"/>
            <a:ext cx="129816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613360" y="1307520"/>
            <a:ext cx="107892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26d0ce"/>
                </a:solidFill>
                <a:latin typeface="Arial"/>
              </a:rPr>
              <a:t>5</a:t>
            </a:r>
            <a:endParaRPr b="1" lang="en-US" sz="1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595360" y="1600200"/>
            <a:ext cx="111528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endpoint digunakan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9930240" y="1234440"/>
            <a:ext cx="129816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0039680" y="1307520"/>
            <a:ext cx="107892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6ea8fe"/>
                </a:solidFill>
                <a:latin typeface="Arial"/>
              </a:rPr>
              <a:t>4</a:t>
            </a:r>
            <a:endParaRPr b="1" lang="en-US" sz="1800" spc="-1" strike="noStrike">
              <a:solidFill>
                <a:srgbClr val="6ea8fe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0021680" y="1600200"/>
            <a:ext cx="111528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Postman requests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8503920" y="2057400"/>
            <a:ext cx="129816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613360" y="2130480"/>
            <a:ext cx="107892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ffb454"/>
                </a:solidFill>
                <a:latin typeface="Arial"/>
              </a:rPr>
              <a:t>4</a:t>
            </a:r>
            <a:endParaRPr b="1" lang="en-US" sz="18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595360" y="2423160"/>
            <a:ext cx="111528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HTTP exchanges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930240" y="2057400"/>
            <a:ext cx="129816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0039680" y="2130480"/>
            <a:ext cx="107892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54d68c"/>
                </a:solidFill>
                <a:latin typeface="Arial"/>
              </a:rPr>
              <a:t>1</a:t>
            </a:r>
            <a:endParaRPr b="1" lang="en-US" sz="1800" spc="-1" strike="noStrike">
              <a:solidFill>
                <a:srgbClr val="54d68c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0021680" y="2423160"/>
            <a:ext cx="111528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CSV output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8503920" y="2880360"/>
            <a:ext cx="2724840" cy="91440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8503920" y="2880360"/>
            <a:ext cx="63720" cy="914400"/>
          </a:xfrm>
          <a:prstGeom prst="roundRect">
            <a:avLst/>
          </a:prstGeom>
          <a:solidFill>
            <a:srgbClr val="ffb45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8668440" y="2989800"/>
            <a:ext cx="2450520" cy="3949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300" spc="-1" strike="noStrike">
                <a:solidFill>
                  <a:srgbClr val="ffb454"/>
                </a:solidFill>
                <a:latin typeface="Arial"/>
              </a:rPr>
              <a:t>BASE URL</a:t>
            </a:r>
            <a:endParaRPr b="1" lang="en-US" sz="13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668440" y="3319200"/>
            <a:ext cx="2450520" cy="3949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50" spc="-1" strike="noStrike">
                <a:solidFill>
                  <a:srgbClr val="f5f7fa"/>
                </a:solidFill>
                <a:latin typeface="Arial"/>
              </a:rPr>
              <a:t>http://127.0.0.1:8088</a:t>
            </a:r>
            <a:endParaRPr b="0" lang="en-US" sz="10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20920" y="4160520"/>
            <a:ext cx="18288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26d0ce"/>
                </a:solidFill>
                <a:latin typeface="Arial"/>
              </a:rPr>
              <a:t>ALUR REQUEST</a:t>
            </a:r>
            <a:endParaRPr b="1" lang="en-US" sz="11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30280" y="4645080"/>
            <a:ext cx="1993320" cy="10515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21720" y="4916880"/>
            <a:ext cx="181044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ctr">
            <a:noAutofit/>
          </a:bodyPr>
          <a:p>
            <a:pPr algn="ctr"/>
            <a:r>
              <a:rPr b="1" lang="en-US" sz="1100" spc="-1" strike="noStrike">
                <a:solidFill>
                  <a:srgbClr val="f5f7fa"/>
                </a:solidFill>
                <a:latin typeface="Arial"/>
              </a:rPr>
              <a:t>Postman / Python</a:t>
            </a:r>
            <a:endParaRPr b="1" lang="en-US" sz="11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21720" y="5257800"/>
            <a:ext cx="181044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00" spc="-1" strike="noStrike">
                <a:solidFill>
                  <a:srgbClr val="a8b5c6"/>
                </a:solidFill>
                <a:latin typeface="Arial"/>
              </a:rPr>
              <a:t>client</a:t>
            </a:r>
            <a:endParaRPr b="0" lang="en-US" sz="80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550960" y="4937760"/>
            <a:ext cx="38376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500" spc="-1" strike="noStrike">
                <a:solidFill>
                  <a:srgbClr val="26d0ce"/>
                </a:solidFill>
                <a:latin typeface="Arial"/>
              </a:rPr>
              <a:t>-&gt;</a:t>
            </a:r>
            <a:endParaRPr b="1" lang="en-US" sz="15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2797920" y="4645080"/>
            <a:ext cx="1993320" cy="10515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2889360" y="4916880"/>
            <a:ext cx="181044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ctr">
            <a:noAutofit/>
          </a:bodyPr>
          <a:p>
            <a:pPr algn="ctr"/>
            <a:r>
              <a:rPr b="1" lang="en-US" sz="1100" spc="-1" strike="noStrike">
                <a:solidFill>
                  <a:srgbClr val="f5f7fa"/>
                </a:solidFill>
                <a:latin typeface="Arial"/>
              </a:rPr>
              <a:t>HTTP GET / POST</a:t>
            </a:r>
            <a:endParaRPr b="1" lang="en-US" sz="11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889360" y="5257800"/>
            <a:ext cx="181044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00" spc="-1" strike="noStrike">
                <a:solidFill>
                  <a:srgbClr val="a8b5c6"/>
                </a:solidFill>
                <a:latin typeface="Arial"/>
              </a:rPr>
              <a:t>protocol</a:t>
            </a:r>
            <a:endParaRPr b="0" lang="en-US" sz="80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818600" y="4937760"/>
            <a:ext cx="38376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500" spc="-1" strike="noStrike">
                <a:solidFill>
                  <a:srgbClr val="26d0ce"/>
                </a:solidFill>
                <a:latin typeface="Arial"/>
              </a:rPr>
              <a:t>-&gt;</a:t>
            </a:r>
            <a:endParaRPr b="1" lang="en-US" sz="15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065560" y="4645080"/>
            <a:ext cx="1993320" cy="10515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157000" y="4916880"/>
            <a:ext cx="181044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ctr">
            <a:noAutofit/>
          </a:bodyPr>
          <a:p>
            <a:pPr algn="ctr"/>
            <a:r>
              <a:rPr b="1" lang="en-US" sz="1100" spc="-1" strike="noStrike">
                <a:solidFill>
                  <a:srgbClr val="f5f7fa"/>
                </a:solidFill>
                <a:latin typeface="Arial"/>
              </a:rPr>
              <a:t>Mock API :8088</a:t>
            </a:r>
            <a:endParaRPr b="1" lang="en-US" sz="11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157000" y="5257800"/>
            <a:ext cx="181044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00" spc="-1" strike="noStrike">
                <a:solidFill>
                  <a:srgbClr val="a8b5c6"/>
                </a:solidFill>
                <a:latin typeface="Arial"/>
              </a:rPr>
              <a:t>server</a:t>
            </a:r>
            <a:endParaRPr b="0" lang="en-US" sz="80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7086240" y="4937760"/>
            <a:ext cx="38376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500" spc="-1" strike="noStrike">
                <a:solidFill>
                  <a:srgbClr val="26d0ce"/>
                </a:solidFill>
                <a:latin typeface="Arial"/>
              </a:rPr>
              <a:t>-&gt;</a:t>
            </a:r>
            <a:endParaRPr b="1" lang="en-US" sz="15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333200" y="4645080"/>
            <a:ext cx="1993320" cy="10515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424640" y="4916880"/>
            <a:ext cx="181044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ctr">
            <a:noAutofit/>
          </a:bodyPr>
          <a:p>
            <a:pPr algn="ctr"/>
            <a:r>
              <a:rPr b="1" lang="en-US" sz="1100" spc="-1" strike="noStrike">
                <a:solidFill>
                  <a:srgbClr val="f5f7fa"/>
                </a:solidFill>
                <a:latin typeface="Arial"/>
              </a:rPr>
              <a:t>JSON response</a:t>
            </a:r>
            <a:endParaRPr b="1" lang="en-US" sz="11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424640" y="5257800"/>
            <a:ext cx="181044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00" spc="-1" strike="noStrike">
                <a:solidFill>
                  <a:srgbClr val="a8b5c6"/>
                </a:solidFill>
                <a:latin typeface="Arial"/>
              </a:rPr>
              <a:t>encoding</a:t>
            </a:r>
            <a:endParaRPr b="0" lang="en-US" sz="80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9353880" y="4937760"/>
            <a:ext cx="38376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500" spc="-1" strike="noStrike">
                <a:solidFill>
                  <a:srgbClr val="26d0ce"/>
                </a:solidFill>
                <a:latin typeface="Arial"/>
              </a:rPr>
              <a:t>-&gt;</a:t>
            </a:r>
            <a:endParaRPr b="1" lang="en-US" sz="15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9600840" y="4645080"/>
            <a:ext cx="1993320" cy="10515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9692280" y="4916880"/>
            <a:ext cx="181044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ctr">
            <a:noAutofit/>
          </a:bodyPr>
          <a:p>
            <a:pPr algn="ctr"/>
            <a:r>
              <a:rPr b="1" lang="en-US" sz="1100" spc="-1" strike="noStrike">
                <a:solidFill>
                  <a:srgbClr val="f5f7fa"/>
                </a:solidFill>
                <a:latin typeface="Arial"/>
              </a:rPr>
              <a:t>Wireshark / pandas</a:t>
            </a:r>
            <a:endParaRPr b="1" lang="en-US" sz="11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9692280" y="5257800"/>
            <a:ext cx="181044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00" spc="-1" strike="noStrike">
                <a:solidFill>
                  <a:srgbClr val="a8b5c6"/>
                </a:solidFill>
                <a:latin typeface="Arial"/>
              </a:rPr>
              <a:t>evidence</a:t>
            </a:r>
            <a:endParaRPr b="0" lang="en-US" sz="800" spc="-1" strike="noStrike">
              <a:solidFill>
                <a:srgbClr val="a8b5c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8111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0"/>
            <a:ext cx="12191400" cy="73080"/>
          </a:xfrm>
          <a:prstGeom prst="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02920" y="310680"/>
            <a:ext cx="905256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00" spc="-1" strike="noStrike">
                <a:solidFill>
                  <a:srgbClr val="f5f7fa"/>
                </a:solidFill>
                <a:latin typeface="Arial"/>
              </a:rPr>
              <a:t>Evidence request GET/POST dan hasil response</a:t>
            </a:r>
            <a:endParaRPr b="1" lang="en-US" sz="25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520920" y="758880"/>
            <a:ext cx="107899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Empat request Postman menghasilkan status sesuai semantik HTTP: GET 200, POST 201.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02920" y="6555960"/>
            <a:ext cx="11155680" cy="6480"/>
          </a:xfrm>
          <a:prstGeom prst="rect">
            <a:avLst/>
          </a:prstGeom>
          <a:solidFill>
            <a:srgbClr val="27415e"/>
          </a:solidFill>
          <a:ln w="0">
            <a:noFill/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02920" y="6601680"/>
            <a:ext cx="5029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a8b5c6"/>
                </a:solidFill>
                <a:latin typeface="Arial"/>
              </a:rPr>
              <a:t>UTS Communication Protocol | Kelompok 02</a:t>
            </a:r>
            <a:endParaRPr b="0" lang="en-US" sz="7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1247120" y="6583680"/>
            <a:ext cx="4114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800" spc="-1" strike="noStrike">
                <a:solidFill>
                  <a:srgbClr val="26d0ce"/>
                </a:solidFill>
                <a:latin typeface="Arial"/>
              </a:rPr>
              <a:t>03</a:t>
            </a:r>
            <a:endParaRPr b="1" lang="en-US" sz="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20920" y="1170360"/>
            <a:ext cx="2286000" cy="31068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54d68c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20920" y="1209600"/>
            <a:ext cx="228600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ctr">
            <a:noAutofit/>
          </a:bodyPr>
          <a:p>
            <a:pPr algn="ctr"/>
            <a:r>
              <a:rPr b="1" lang="en-US" sz="1050" spc="-1" strike="noStrike">
                <a:solidFill>
                  <a:srgbClr val="54d68c"/>
                </a:solidFill>
                <a:latin typeface="Arial"/>
              </a:rPr>
              <a:t>GET /api/products | 200 OK</a:t>
            </a:r>
            <a:endParaRPr b="1" lang="en-US" sz="1050" spc="-1" strike="noStrike">
              <a:solidFill>
                <a:srgbClr val="54d68c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217920" y="1170360"/>
            <a:ext cx="2606040" cy="31068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ffb45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217920" y="1209600"/>
            <a:ext cx="2606040" cy="351720"/>
          </a:xfrm>
          <a:prstGeom prst="rect">
            <a:avLst/>
          </a:prstGeom>
          <a:noFill/>
          <a:ln w="0">
            <a:noFill/>
          </a:ln>
        </p:spPr>
        <p:txBody>
          <a:bodyPr lIns="7200" rIns="7200" tIns="7200" bIns="7200" anchor="ctr">
            <a:noAutofit/>
          </a:bodyPr>
          <a:p>
            <a:pPr algn="ctr"/>
            <a:r>
              <a:rPr b="1" lang="en-US" sz="1050" spc="-1" strike="noStrike">
                <a:solidFill>
                  <a:srgbClr val="ffb454"/>
                </a:solidFill>
                <a:latin typeface="Arial"/>
              </a:rPr>
              <a:t>POST /api/profiles | 201 Created</a:t>
            </a:r>
            <a:endParaRPr b="1" lang="en-US" sz="105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08320" y="1587600"/>
            <a:ext cx="5438160" cy="3070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520920" y="1600920"/>
            <a:ext cx="5412960" cy="3043080"/>
          </a:xfrm>
          <a:prstGeom prst="rect">
            <a:avLst/>
          </a:prstGeom>
          <a:ln w="0">
            <a:noFill/>
          </a:ln>
        </p:spPr>
      </p:pic>
      <p:sp>
        <p:nvSpPr>
          <p:cNvPr id="117" name=""/>
          <p:cNvSpPr/>
          <p:nvPr/>
        </p:nvSpPr>
        <p:spPr>
          <a:xfrm>
            <a:off x="6205320" y="1587600"/>
            <a:ext cx="5438160" cy="3070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6217920" y="1600920"/>
            <a:ext cx="5412960" cy="3043080"/>
          </a:xfrm>
          <a:prstGeom prst="rect">
            <a:avLst/>
          </a:prstGeom>
          <a:ln w="0">
            <a:noFill/>
          </a:ln>
        </p:spPr>
      </p:pic>
      <p:sp>
        <p:nvSpPr>
          <p:cNvPr id="119" name=""/>
          <p:cNvSpPr/>
          <p:nvPr/>
        </p:nvSpPr>
        <p:spPr>
          <a:xfrm>
            <a:off x="520920" y="4983480"/>
            <a:ext cx="2669760" cy="10515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30360" y="5138640"/>
            <a:ext cx="658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54d68c"/>
                </a:solidFill>
                <a:latin typeface="Arial"/>
              </a:rPr>
              <a:t>GET</a:t>
            </a:r>
            <a:endParaRPr b="1" lang="en-US" sz="1100" spc="-1" strike="noStrike">
              <a:solidFill>
                <a:srgbClr val="54d68c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307160" y="5138640"/>
            <a:ext cx="16916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f5f7fa"/>
                </a:solidFill>
                <a:latin typeface="Arial"/>
              </a:rPr>
              <a:t>/api/products</a:t>
            </a:r>
            <a:endParaRPr b="1" lang="en-US" sz="9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30360" y="5532120"/>
            <a:ext cx="23317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200 OK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382920" y="4983480"/>
            <a:ext cx="2669760" cy="10515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492360" y="5138640"/>
            <a:ext cx="658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54d68c"/>
                </a:solidFill>
                <a:latin typeface="Arial"/>
              </a:rPr>
              <a:t>GET</a:t>
            </a:r>
            <a:endParaRPr b="1" lang="en-US" sz="1100" spc="-1" strike="noStrike">
              <a:solidFill>
                <a:srgbClr val="54d68c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169160" y="5138640"/>
            <a:ext cx="16916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f5f7fa"/>
                </a:solidFill>
                <a:latin typeface="Arial"/>
              </a:rPr>
              <a:t>/api/users</a:t>
            </a:r>
            <a:endParaRPr b="1" lang="en-US" sz="9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3492360" y="5532120"/>
            <a:ext cx="23317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200 OK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244920" y="4983480"/>
            <a:ext cx="2669760" cy="10515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354360" y="5138640"/>
            <a:ext cx="658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fb454"/>
                </a:solidFill>
                <a:latin typeface="Arial"/>
              </a:rPr>
              <a:t>POST</a:t>
            </a:r>
            <a:endParaRPr b="1" lang="en-US" sz="11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031160" y="5138640"/>
            <a:ext cx="16916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f5f7fa"/>
                </a:solidFill>
                <a:latin typeface="Arial"/>
              </a:rPr>
              <a:t>/api/profiles</a:t>
            </a:r>
            <a:endParaRPr b="1" lang="en-US" sz="9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354360" y="5532120"/>
            <a:ext cx="23317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201 Created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9106920" y="4983480"/>
            <a:ext cx="2669760" cy="10515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9216360" y="5138640"/>
            <a:ext cx="658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fb454"/>
                </a:solidFill>
                <a:latin typeface="Arial"/>
              </a:rPr>
              <a:t>POST</a:t>
            </a:r>
            <a:endParaRPr b="1" lang="en-US" sz="11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9893160" y="5138640"/>
            <a:ext cx="16916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50" spc="-1" strike="noStrike">
                <a:solidFill>
                  <a:srgbClr val="f5f7fa"/>
                </a:solidFill>
                <a:latin typeface="Arial"/>
              </a:rPr>
              <a:t>/api/orders</a:t>
            </a:r>
            <a:endParaRPr b="1" lang="en-US" sz="9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9216360" y="5532120"/>
            <a:ext cx="23317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201 Created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8111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0"/>
            <a:ext cx="12191400" cy="73080"/>
          </a:xfrm>
          <a:prstGeom prst="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02920" y="310680"/>
            <a:ext cx="905256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00" spc="-1" strike="noStrike">
                <a:solidFill>
                  <a:srgbClr val="f5f7fa"/>
                </a:solidFill>
                <a:latin typeface="Arial"/>
              </a:rPr>
              <a:t>Evidence packet capture dan analisis paket penting</a:t>
            </a:r>
            <a:endParaRPr b="1" lang="en-US" sz="25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20920" y="758880"/>
            <a:ext cx="107899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PCAP diverifikasi dari adapter loopback: HTTP terlihat karena endpoint menggunakan http, bukan https.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02920" y="6555960"/>
            <a:ext cx="11155680" cy="6480"/>
          </a:xfrm>
          <a:prstGeom prst="rect">
            <a:avLst/>
          </a:prstGeom>
          <a:solidFill>
            <a:srgbClr val="27415e"/>
          </a:solidFill>
          <a:ln w="0">
            <a:noFill/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02920" y="6601680"/>
            <a:ext cx="5029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a8b5c6"/>
                </a:solidFill>
                <a:latin typeface="Arial"/>
              </a:rPr>
              <a:t>UTS Communication Protocol | Kelompok 02</a:t>
            </a:r>
            <a:endParaRPr b="0" lang="en-US" sz="7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1247120" y="6583680"/>
            <a:ext cx="4114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800" spc="-1" strike="noStrike">
                <a:solidFill>
                  <a:srgbClr val="26d0ce"/>
                </a:solidFill>
                <a:latin typeface="Arial"/>
              </a:rPr>
              <a:t>04</a:t>
            </a:r>
            <a:endParaRPr b="1" lang="en-US" sz="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490320" y="1221840"/>
            <a:ext cx="7477560" cy="43959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516600" y="1234440"/>
            <a:ext cx="7425000" cy="4370760"/>
          </a:xfrm>
          <a:prstGeom prst="rect">
            <a:avLst/>
          </a:prstGeom>
          <a:ln w="0">
            <a:noFill/>
          </a:ln>
        </p:spPr>
      </p:pic>
      <p:sp>
        <p:nvSpPr>
          <p:cNvPr id="146" name=""/>
          <p:cNvSpPr/>
          <p:nvPr/>
        </p:nvSpPr>
        <p:spPr>
          <a:xfrm>
            <a:off x="8183880" y="1234440"/>
            <a:ext cx="132588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8293320" y="1307520"/>
            <a:ext cx="110664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26d0ce"/>
                </a:solidFill>
                <a:latin typeface="Arial"/>
              </a:rPr>
              <a:t>64</a:t>
            </a:r>
            <a:endParaRPr b="1" lang="en-US" sz="1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8275320" y="1600200"/>
            <a:ext cx="114300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total packets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9674280" y="1234440"/>
            <a:ext cx="155448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9783720" y="1307520"/>
            <a:ext cx="133524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6ea8fe"/>
                </a:solidFill>
                <a:latin typeface="Arial"/>
              </a:rPr>
              <a:t>198.48 s</a:t>
            </a:r>
            <a:endParaRPr b="1" lang="en-US" sz="1800" spc="-1" strike="noStrike">
              <a:solidFill>
                <a:srgbClr val="6ea8fe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9765720" y="1600200"/>
            <a:ext cx="137160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capture duration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8183880" y="2057400"/>
            <a:ext cx="132588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8293320" y="2130480"/>
            <a:ext cx="110664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ffb454"/>
                </a:solidFill>
                <a:latin typeface="Arial"/>
              </a:rPr>
              <a:t>8</a:t>
            </a:r>
            <a:endParaRPr b="1" lang="en-US" sz="18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8275320" y="2423160"/>
            <a:ext cx="114300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HTTP messages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9674280" y="2057400"/>
            <a:ext cx="155448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9783720" y="2130480"/>
            <a:ext cx="133524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54d68c"/>
                </a:solidFill>
                <a:latin typeface="Arial"/>
              </a:rPr>
              <a:t>4</a:t>
            </a:r>
            <a:endParaRPr b="1" lang="en-US" sz="1800" spc="-1" strike="noStrike">
              <a:solidFill>
                <a:srgbClr val="54d68c"/>
              </a:solidFill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9765720" y="2423160"/>
            <a:ext cx="137160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request-response pairs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8183880" y="2907720"/>
            <a:ext cx="3044880" cy="26974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8183880" y="2907720"/>
            <a:ext cx="63720" cy="2697480"/>
          </a:xfrm>
          <a:prstGeom prst="roundRect">
            <a:avLst/>
          </a:prstGeom>
          <a:solidFill>
            <a:srgbClr val="ffb45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8348400" y="3017160"/>
            <a:ext cx="2770560" cy="3949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300" spc="-1" strike="noStrike">
                <a:solidFill>
                  <a:srgbClr val="ffb454"/>
                </a:solidFill>
                <a:latin typeface="Arial"/>
              </a:rPr>
              <a:t>PAKET PENTING</a:t>
            </a:r>
            <a:endParaRPr b="1" lang="en-US" sz="13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8348400" y="3346560"/>
            <a:ext cx="2770560" cy="9457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50" spc="-1" strike="noStrike">
                <a:solidFill>
                  <a:srgbClr val="f5f7fa"/>
                </a:solidFill>
                <a:latin typeface="Arial"/>
              </a:rPr>
              <a:t>- Src dan dst: 127.0.0.1</a:t>
            </a:r>
            <a:endParaRPr b="0" lang="en-US" sz="10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Arial"/>
              </a:rPr>
              <a:t>- TCP destination port: 8088</a:t>
            </a:r>
            <a:endParaRPr b="0" lang="en-US" sz="10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Arial"/>
              </a:rPr>
              <a:t>- POST Profiles frame: 480 B</a:t>
            </a:r>
            <a:endParaRPr b="0" lang="en-US" sz="10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Arial"/>
              </a:rPr>
              <a:t>- Payload JSON Content-Length: 169</a:t>
            </a:r>
            <a:endParaRPr b="0" lang="en-US" sz="10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Arial"/>
              </a:rPr>
              <a:t>- Response: HTTP/1.0 201 Created</a:t>
            </a:r>
            <a:endParaRPr b="0" lang="en-US" sz="10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Arial"/>
              </a:rPr>
              <a:t>- Content-Type: application/json</a:t>
            </a:r>
            <a:endParaRPr b="0" lang="en-US" sz="10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502920" y="5833800"/>
            <a:ext cx="10725840" cy="475200"/>
          </a:xfrm>
          <a:prstGeom prst="roundRect">
            <a:avLst/>
          </a:prstGeom>
          <a:solidFill>
            <a:srgbClr val="0b777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67440" y="5925240"/>
            <a:ext cx="10378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50" spc="-1" strike="noStrike">
                <a:solidFill>
                  <a:srgbClr val="f5f7fa"/>
                </a:solidFill>
                <a:latin typeface="Arial"/>
              </a:rPr>
              <a:t>Analisis: loopback memudahkan observasi; pada HTTPS payload JSON akan dilindungi TLS.</a:t>
            </a:r>
            <a:endParaRPr b="1" lang="en-US" sz="1050" spc="-1" strike="noStrike">
              <a:solidFill>
                <a:srgbClr val="f5f7f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8111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2191400" cy="73080"/>
          </a:xfrm>
          <a:prstGeom prst="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02920" y="310680"/>
            <a:ext cx="905256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00" spc="-1" strike="noStrike">
                <a:solidFill>
                  <a:srgbClr val="f5f7fa"/>
                </a:solidFill>
                <a:latin typeface="Arial"/>
              </a:rPr>
              <a:t>Data format analysis: JSON, XML, dan Protobuf</a:t>
            </a:r>
            <a:endParaRPr b="1" lang="en-US" sz="25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20920" y="758880"/>
            <a:ext cx="107899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Format aktual proyek adalah JSON; XML dan Protobuf dibandingkan sebagai alternatif pertukaran data.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502920" y="6555960"/>
            <a:ext cx="11155680" cy="6480"/>
          </a:xfrm>
          <a:prstGeom prst="rect">
            <a:avLst/>
          </a:prstGeom>
          <a:solidFill>
            <a:srgbClr val="27415e"/>
          </a:solidFill>
          <a:ln w="0">
            <a:noFill/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02920" y="6601680"/>
            <a:ext cx="5029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a8b5c6"/>
                </a:solidFill>
                <a:latin typeface="Arial"/>
              </a:rPr>
              <a:t>UTS Communication Protocol | Kelompok 02</a:t>
            </a:r>
            <a:endParaRPr b="0" lang="en-US" sz="7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1247120" y="6583680"/>
            <a:ext cx="4114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800" spc="-1" strike="noStrike">
                <a:solidFill>
                  <a:srgbClr val="26d0ce"/>
                </a:solidFill>
                <a:latin typeface="Arial"/>
              </a:rPr>
              <a:t>05</a:t>
            </a:r>
            <a:endParaRPr b="1" lang="en-US" sz="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20920" y="1325880"/>
            <a:ext cx="3547800" cy="4160520"/>
          </a:xfrm>
          <a:prstGeom prst="roundRect">
            <a:avLst/>
          </a:prstGeom>
          <a:solidFill>
            <a:srgbClr val="153441"/>
          </a:solidFill>
          <a:ln w="12600">
            <a:solidFill>
              <a:srgbClr val="26d0c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703800" y="1536120"/>
            <a:ext cx="3182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400" spc="-1" strike="noStrike">
                <a:solidFill>
                  <a:srgbClr val="26d0ce"/>
                </a:solidFill>
                <a:latin typeface="Arial"/>
              </a:rPr>
              <a:t>JSON - DIPILIH</a:t>
            </a:r>
            <a:endParaRPr b="1" lang="en-US" sz="14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67520" y="2011680"/>
            <a:ext cx="3053880" cy="163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Representasi: text key-value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Kelebihan: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mudah dibaca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native di REST API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langsung diparse Python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Trade-off: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lebih verbose dari binary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schema tidak wajib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324680" y="1325880"/>
            <a:ext cx="3547800" cy="416052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6ea8f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4507560" y="1536120"/>
            <a:ext cx="3182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400" spc="-1" strike="noStrike">
                <a:solidFill>
                  <a:srgbClr val="6ea8fe"/>
                </a:solidFill>
                <a:latin typeface="Arial"/>
              </a:rPr>
              <a:t>XML</a:t>
            </a:r>
            <a:endParaRPr b="1" lang="en-US" sz="1400" spc="-1" strike="noStrike">
              <a:solidFill>
                <a:srgbClr val="6ea8fe"/>
              </a:solidFill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4571280" y="2011680"/>
            <a:ext cx="305388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Representasi: text bertag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Kelebihan: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struktur eksplisit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validasi schema kuat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Trade-off: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tag membuat payload besar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parsing lebih kompleks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8128440" y="1325880"/>
            <a:ext cx="3547800" cy="416052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ffb45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8311320" y="1536120"/>
            <a:ext cx="3182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400" spc="-1" strike="noStrike">
                <a:solidFill>
                  <a:srgbClr val="ffb454"/>
                </a:solidFill>
                <a:latin typeface="Arial"/>
              </a:rPr>
              <a:t>PROTOBUF</a:t>
            </a:r>
            <a:endParaRPr b="1" lang="en-US" sz="14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8375040" y="2011680"/>
            <a:ext cx="305388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Representasi: binary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Kelebihan: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payload ringkas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serialisasi cepat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Trade-off: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perlu .proto/schema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tidak human-readable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520920" y="5733000"/>
            <a:ext cx="11146320" cy="56664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26d0c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13160" y="5879520"/>
            <a:ext cx="107899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50" spc="-1" strike="noStrike">
                <a:solidFill>
                  <a:srgbClr val="f5f7fa"/>
                </a:solidFill>
                <a:latin typeface="Arial"/>
              </a:rPr>
              <a:t>Evidence aktual: Content-Type application/json; response berbentuk object dengan key metadata + array data.</a:t>
            </a:r>
            <a:endParaRPr b="1" lang="en-US" sz="1050" spc="-1" strike="noStrike">
              <a:solidFill>
                <a:srgbClr val="f5f7f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8111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0" y="0"/>
            <a:ext cx="12191400" cy="73080"/>
          </a:xfrm>
          <a:prstGeom prst="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502920" y="310680"/>
            <a:ext cx="905256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00" spc="-1" strike="noStrike">
                <a:solidFill>
                  <a:srgbClr val="f5f7fa"/>
                </a:solidFill>
                <a:latin typeface="Arial"/>
              </a:rPr>
              <a:t>Python parsing dan output tabel / CSV / DataFrame</a:t>
            </a:r>
            <a:endParaRPr b="1" lang="en-US" sz="25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20920" y="758880"/>
            <a:ext cx="107899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requests mengambil JSON, pandas.json_normalize membentuk tabel, lalu hasil disimpan sebagai CSV.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502920" y="6555960"/>
            <a:ext cx="11155680" cy="6480"/>
          </a:xfrm>
          <a:prstGeom prst="rect">
            <a:avLst/>
          </a:prstGeom>
          <a:solidFill>
            <a:srgbClr val="27415e"/>
          </a:solidFill>
          <a:ln w="0">
            <a:noFill/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502920" y="6601680"/>
            <a:ext cx="5029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a8b5c6"/>
                </a:solidFill>
                <a:latin typeface="Arial"/>
              </a:rPr>
              <a:t>UTS Communication Protocol | Kelompok 02</a:t>
            </a:r>
            <a:endParaRPr b="0" lang="en-US" sz="7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1247120" y="6583680"/>
            <a:ext cx="4114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800" spc="-1" strike="noStrike">
                <a:solidFill>
                  <a:srgbClr val="26d0ce"/>
                </a:solidFill>
                <a:latin typeface="Arial"/>
              </a:rPr>
              <a:t>06</a:t>
            </a:r>
            <a:endParaRPr b="1" lang="en-US" sz="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520920" y="1280160"/>
            <a:ext cx="4709160" cy="420624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731520" y="1481040"/>
            <a:ext cx="18288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26d0ce"/>
                </a:solidFill>
                <a:latin typeface="Arial"/>
              </a:rPr>
              <a:t>PARSING SCRIPT</a:t>
            </a:r>
            <a:endParaRPr b="1" lang="en-US" sz="11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713160" y="1874520"/>
            <a:ext cx="4315680" cy="119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f5f7fa"/>
                </a:solidFill>
                <a:latin typeface="Courier New"/>
              </a:rPr>
              <a:t>url = "http://127.0.0.1:8088/api/transactions"</a:t>
            </a:r>
            <a:endParaRPr b="0" lang="en-US" sz="1050" spc="-1" strike="noStrike">
              <a:solidFill>
                <a:srgbClr val="f5f7fa"/>
              </a:solidFill>
              <a:latin typeface="Courier New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Courier New"/>
              </a:rPr>
              <a:t>response = requests.get(url)</a:t>
            </a:r>
            <a:endParaRPr b="0" lang="en-US" sz="1050" spc="-1" strike="noStrike">
              <a:solidFill>
                <a:srgbClr val="f5f7fa"/>
              </a:solidFill>
              <a:latin typeface="Courier New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Courier New"/>
              </a:rPr>
              <a:t>response.raise_for_status()</a:t>
            </a:r>
            <a:endParaRPr b="0" lang="en-US" sz="1050" spc="-1" strike="noStrike">
              <a:solidFill>
                <a:srgbClr val="f5f7fa"/>
              </a:solidFill>
              <a:latin typeface="Courier New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Courier New"/>
              </a:rPr>
              <a:t>data = response.json()</a:t>
            </a:r>
            <a:endParaRPr b="0" lang="en-US" sz="1050" spc="-1" strike="noStrike">
              <a:solidFill>
                <a:srgbClr val="f5f7fa"/>
              </a:solidFill>
              <a:latin typeface="Courier New"/>
            </a:endParaRPr>
          </a:p>
          <a:p>
            <a:endParaRPr b="0" lang="en-US" sz="1050" spc="-1" strike="noStrike">
              <a:solidFill>
                <a:srgbClr val="f5f7fa"/>
              </a:solidFill>
              <a:latin typeface="Courier New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Courier New"/>
              </a:rPr>
              <a:t>records = data["data"]</a:t>
            </a:r>
            <a:endParaRPr b="0" lang="en-US" sz="1050" spc="-1" strike="noStrike">
              <a:solidFill>
                <a:srgbClr val="f5f7fa"/>
              </a:solidFill>
              <a:latin typeface="Courier New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Courier New"/>
              </a:rPr>
              <a:t>df = pd.json_normalize(records)</a:t>
            </a:r>
            <a:endParaRPr b="0" lang="en-US" sz="1050" spc="-1" strike="noStrike">
              <a:solidFill>
                <a:srgbClr val="f5f7fa"/>
              </a:solidFill>
              <a:latin typeface="Courier New"/>
            </a:endParaRPr>
          </a:p>
          <a:p>
            <a:r>
              <a:rPr b="0" lang="en-US" sz="1050" spc="-1" strike="noStrike">
                <a:solidFill>
                  <a:srgbClr val="f5f7fa"/>
                </a:solidFill>
                <a:latin typeface="Courier New"/>
              </a:rPr>
              <a:t>df.to_csv("output/parsed_result.csv", index=False)</a:t>
            </a:r>
            <a:endParaRPr b="0" lang="en-US" sz="1050" spc="-1" strike="noStrike">
              <a:solidFill>
                <a:srgbClr val="f5f7fa"/>
              </a:solidFill>
              <a:latin typeface="Courier New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713160" y="4572000"/>
            <a:ext cx="42242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Script final juga memiliki fallback untuk list, data, transactions, results, atau dict satu baris.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5455440" y="1267560"/>
            <a:ext cx="6224760" cy="423144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5468040" y="1400760"/>
            <a:ext cx="6199560" cy="3965040"/>
          </a:xfrm>
          <a:prstGeom prst="rect">
            <a:avLst/>
          </a:prstGeom>
          <a:ln w="0">
            <a:noFill/>
          </a:ln>
        </p:spPr>
      </p:pic>
      <p:sp>
        <p:nvSpPr>
          <p:cNvPr id="199" name=""/>
          <p:cNvSpPr/>
          <p:nvPr/>
        </p:nvSpPr>
        <p:spPr>
          <a:xfrm>
            <a:off x="520920" y="5687280"/>
            <a:ext cx="150876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30360" y="5760360"/>
            <a:ext cx="128952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54d68c"/>
                </a:solidFill>
                <a:latin typeface="Arial"/>
              </a:rPr>
              <a:t>200</a:t>
            </a:r>
            <a:endParaRPr b="1" lang="en-US" sz="1800" spc="-1" strike="noStrike">
              <a:solidFill>
                <a:srgbClr val="54d68c"/>
              </a:solidFill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612360" y="6053040"/>
            <a:ext cx="132588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HTTP status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2212560" y="5687280"/>
            <a:ext cx="132588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2322000" y="5760360"/>
            <a:ext cx="110664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26d0ce"/>
                </a:solidFill>
                <a:latin typeface="Arial"/>
              </a:rPr>
              <a:t>2</a:t>
            </a:r>
            <a:endParaRPr b="1" lang="en-US" sz="1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304000" y="6053040"/>
            <a:ext cx="114300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rows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3721320" y="5687280"/>
            <a:ext cx="132588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830760" y="5760360"/>
            <a:ext cx="110664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6ea8fe"/>
                </a:solidFill>
                <a:latin typeface="Arial"/>
              </a:rPr>
              <a:t>8</a:t>
            </a:r>
            <a:endParaRPr b="1" lang="en-US" sz="1800" spc="-1" strike="noStrike">
              <a:solidFill>
                <a:srgbClr val="6ea8fe"/>
              </a:solidFill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812760" y="6053040"/>
            <a:ext cx="114300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columns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5230080" y="5687280"/>
            <a:ext cx="160020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5339520" y="5760360"/>
            <a:ext cx="1380960" cy="344520"/>
          </a:xfrm>
          <a:prstGeom prst="rect">
            <a:avLst/>
          </a:prstGeom>
          <a:noFill/>
          <a:ln w="0">
            <a:noFill/>
          </a:ln>
        </p:spPr>
        <p:txBody>
          <a:bodyPr lIns="3600" rIns="3600" tIns="3600" bIns="3600" anchor="t">
            <a:noAutofit/>
          </a:bodyPr>
          <a:p>
            <a:pPr algn="ctr"/>
            <a:r>
              <a:rPr b="1" lang="en-US" sz="1800" spc="-1" strike="noStrike">
                <a:solidFill>
                  <a:srgbClr val="ffb454"/>
                </a:solidFill>
                <a:latin typeface="Arial"/>
              </a:rPr>
              <a:t>256 B</a:t>
            </a:r>
            <a:endParaRPr b="1" lang="en-US" sz="18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5321520" y="6053040"/>
            <a:ext cx="1417320" cy="340920"/>
          </a:xfrm>
          <a:prstGeom prst="rect">
            <a:avLst/>
          </a:prstGeom>
          <a:noFill/>
          <a:ln w="0">
            <a:noFill/>
          </a:ln>
        </p:spPr>
        <p:txBody>
          <a:bodyPr lIns="1800" rIns="1800" tIns="1800" bIns="180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DataFrame memory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7013160" y="5687280"/>
            <a:ext cx="4654080" cy="65808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7013160" y="5687280"/>
            <a:ext cx="63720" cy="658080"/>
          </a:xfrm>
          <a:prstGeom prst="round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7177680" y="5796720"/>
            <a:ext cx="4379760" cy="3949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300" spc="-1" strike="noStrike">
                <a:solidFill>
                  <a:srgbClr val="26d0ce"/>
                </a:solidFill>
                <a:latin typeface="Arial"/>
              </a:rPr>
              <a:t>OUTPUT</a:t>
            </a:r>
            <a:endParaRPr b="1" lang="en-US" sz="13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7177680" y="6126120"/>
            <a:ext cx="4379760" cy="3949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000" spc="-1" strike="noStrike">
                <a:solidFill>
                  <a:srgbClr val="f5f7fa"/>
                </a:solidFill>
                <a:latin typeface="Arial"/>
              </a:rPr>
              <a:t>output/parsed_result.csv</a:t>
            </a:r>
            <a:endParaRPr b="0" lang="en-US" sz="1000" spc="-1" strike="noStrike">
              <a:solidFill>
                <a:srgbClr val="f5f7f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8111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0" y="0"/>
            <a:ext cx="12191400" cy="73080"/>
          </a:xfrm>
          <a:prstGeom prst="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02920" y="310680"/>
            <a:ext cx="905256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00" spc="-1" strike="noStrike">
                <a:solidFill>
                  <a:srgbClr val="f5f7fa"/>
                </a:solidFill>
                <a:latin typeface="Arial"/>
              </a:rPr>
              <a:t>Troubleshooting, lesson learned, dan kesimpulan</a:t>
            </a:r>
            <a:endParaRPr b="1" lang="en-US" sz="25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520920" y="758880"/>
            <a:ext cx="107899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Hasil berhasil direplikasi; profil proyek juga menunjukkan area yang perlu diperkuat.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502920" y="6555960"/>
            <a:ext cx="11155680" cy="6480"/>
          </a:xfrm>
          <a:prstGeom prst="rect">
            <a:avLst/>
          </a:prstGeom>
          <a:solidFill>
            <a:srgbClr val="27415e"/>
          </a:solidFill>
          <a:ln w="0">
            <a:noFill/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502920" y="6601680"/>
            <a:ext cx="5029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a8b5c6"/>
                </a:solidFill>
                <a:latin typeface="Arial"/>
              </a:rPr>
              <a:t>UTS Communication Protocol | Kelompok 02</a:t>
            </a:r>
            <a:endParaRPr b="0" lang="en-US" sz="7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1247120" y="6583680"/>
            <a:ext cx="4114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800" spc="-1" strike="noStrike">
                <a:solidFill>
                  <a:srgbClr val="26d0ce"/>
                </a:solidFill>
                <a:latin typeface="Arial"/>
              </a:rPr>
              <a:t>07</a:t>
            </a:r>
            <a:endParaRPr b="1" lang="en-US" sz="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520920" y="1298160"/>
            <a:ext cx="3492720" cy="446220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520920" y="1298160"/>
            <a:ext cx="63720" cy="4462200"/>
          </a:xfrm>
          <a:prstGeom prst="roundRect">
            <a:avLst/>
          </a:prstGeom>
          <a:solidFill>
            <a:srgbClr val="ffb45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685440" y="1407600"/>
            <a:ext cx="3218400" cy="3949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300" spc="-1" strike="noStrike">
                <a:solidFill>
                  <a:srgbClr val="ffb454"/>
                </a:solidFill>
                <a:latin typeface="Arial"/>
              </a:rPr>
              <a:t>TROUBLESHOOTING</a:t>
            </a:r>
            <a:endParaRPr b="1" lang="en-US" sz="13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685440" y="1737000"/>
            <a:ext cx="3218400" cy="8733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Capture harus memilih adapter loopback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Filter http memisahkan paket penting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HTTP dipakai agar payload dapat dilihat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Parser menangani beberapa bentuk response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Status code dan Content-Type divalidasi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4233600" y="1298160"/>
            <a:ext cx="3492720" cy="446220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4233600" y="1298160"/>
            <a:ext cx="63720" cy="4462200"/>
          </a:xfrm>
          <a:prstGeom prst="round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4398120" y="1407600"/>
            <a:ext cx="3218400" cy="3949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300" spc="-1" strike="noStrike">
                <a:solidFill>
                  <a:srgbClr val="26d0ce"/>
                </a:solidFill>
                <a:latin typeface="Arial"/>
              </a:rPr>
              <a:t>LESSON LEARNED</a:t>
            </a:r>
            <a:endParaRPr b="1" lang="en-US" sz="13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4398120" y="1737000"/>
            <a:ext cx="3218400" cy="11995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HTTP adalah pola request-response nyata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- 200 dan 201 memiliki arti berbeda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JSON mudah diubah menjadi data tabular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PCAP membuktikan komunikasi pada packet level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Evidence terstruktur membuat hasil dapat diaudit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7945920" y="1298160"/>
            <a:ext cx="3492720" cy="446220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7415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7945920" y="1298160"/>
            <a:ext cx="63720" cy="4462200"/>
          </a:xfrm>
          <a:prstGeom prst="roundRect">
            <a:avLst/>
          </a:prstGeom>
          <a:solidFill>
            <a:srgbClr val="ff6b6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8110440" y="1407600"/>
            <a:ext cx="3218400" cy="39492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1" lang="en-US" sz="1300" spc="-1" strike="noStrike">
                <a:solidFill>
                  <a:srgbClr val="ff6b6b"/>
                </a:solidFill>
                <a:latin typeface="Arial"/>
              </a:rPr>
              <a:t>IMPROVEMENT PRIORITIES</a:t>
            </a:r>
            <a:endParaRPr b="1" lang="en-US" sz="1300" spc="-1" strike="noStrike">
              <a:solidFill>
                <a:srgbClr val="ff6b6b"/>
              </a:solidFill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8110440" y="1737000"/>
            <a:ext cx="3218400" cy="873360"/>
          </a:xfrm>
          <a:prstGeom prst="rect">
            <a:avLst/>
          </a:prstGeom>
          <a:noFill/>
          <a:ln w="0">
            <a:noFill/>
          </a:ln>
        </p:spPr>
        <p:txBody>
          <a:bodyPr lIns="28800" rIns="28800" tIns="28800" bIns="28800" anchor="t">
            <a:noAutofit/>
          </a:bodyPr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Tambahkan assertion untuk seluruh request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Simpan evidence negative test / 404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Selaraskan nama file pada README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Isi reflection tiap anggota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5f7fa"/>
                </a:solidFill>
                <a:latin typeface="Arial"/>
              </a:rPr>
              <a:t>- Gunakan commit author tiap kontributor</a:t>
            </a:r>
            <a:endParaRPr b="0" lang="en-US" sz="11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520920" y="5961600"/>
            <a:ext cx="10917720" cy="411480"/>
          </a:xfrm>
          <a:prstGeom prst="roundRect">
            <a:avLst/>
          </a:prstGeom>
          <a:solidFill>
            <a:srgbClr val="0b7778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85800" y="6035040"/>
            <a:ext cx="105886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050" spc="-1" strike="noStrike">
                <a:solidFill>
                  <a:srgbClr val="f5f7fa"/>
                </a:solidFill>
                <a:latin typeface="Arial"/>
              </a:rPr>
              <a:t>Kesimpulan: pipeline API -&gt; HTTP -&gt; JSON -&gt; packet capture -&gt; DataFrame -&gt; CSV berhasil dibuktikan.</a:t>
            </a:r>
            <a:endParaRPr b="1" lang="en-US" sz="1050" spc="-1" strike="noStrike">
              <a:solidFill>
                <a:srgbClr val="f5f7fa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8111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0" y="0"/>
            <a:ext cx="12191400" cy="73080"/>
          </a:xfrm>
          <a:prstGeom prst="rect">
            <a:avLst/>
          </a:prstGeom>
          <a:solidFill>
            <a:srgbClr val="26d0ce"/>
          </a:solidFill>
          <a:ln w="0">
            <a:noFill/>
          </a:ln>
        </p:spPr>
        <p:txBody>
          <a:bodyPr lIns="90000" rIns="90000" tIns="28080" bIns="2808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02920" y="310680"/>
            <a:ext cx="9052560" cy="35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00" spc="-1" strike="noStrike">
                <a:solidFill>
                  <a:srgbClr val="f5f7fa"/>
                </a:solidFill>
                <a:latin typeface="Arial"/>
              </a:rPr>
              <a:t>Kontribusi anggota, evidence map, dan demo singkat</a:t>
            </a:r>
            <a:endParaRPr b="1" lang="en-US" sz="25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520920" y="758880"/>
            <a:ext cx="107899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Slide opsional: gunakan sebagai penutup atau panduan demo saat presentasi.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502920" y="6555960"/>
            <a:ext cx="11155680" cy="6480"/>
          </a:xfrm>
          <a:prstGeom prst="rect">
            <a:avLst/>
          </a:prstGeom>
          <a:solidFill>
            <a:srgbClr val="27415e"/>
          </a:solidFill>
          <a:ln w="0">
            <a:noFill/>
          </a:ln>
        </p:spPr>
        <p:txBody>
          <a:bodyPr lIns="90000" rIns="90000" tIns="-38520" bIns="-385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502920" y="6601680"/>
            <a:ext cx="5029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a8b5c6"/>
                </a:solidFill>
                <a:latin typeface="Arial"/>
              </a:rPr>
              <a:t>UTS Communication Protocol | Kelompok 02</a:t>
            </a:r>
            <a:endParaRPr b="0" lang="en-US" sz="7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1247120" y="6583680"/>
            <a:ext cx="4114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800" spc="-1" strike="noStrike">
                <a:solidFill>
                  <a:srgbClr val="26d0ce"/>
                </a:solidFill>
                <a:latin typeface="Arial"/>
              </a:rPr>
              <a:t>08</a:t>
            </a:r>
            <a:endParaRPr b="1" lang="en-US" sz="8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520920" y="1280160"/>
            <a:ext cx="5148000" cy="12981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26d0c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03800" y="1426320"/>
            <a:ext cx="9144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26d0ce"/>
                </a:solidFill>
                <a:latin typeface="Arial"/>
              </a:rPr>
              <a:t>ROLE 1</a:t>
            </a:r>
            <a:endParaRPr b="1" lang="en-US" sz="10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663920" y="1407960"/>
            <a:ext cx="3749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f7fa"/>
                </a:solidFill>
                <a:latin typeface="Arial"/>
              </a:rPr>
              <a:t>Zahir Ali Izzaturahman</a:t>
            </a:r>
            <a:endParaRPr b="1" lang="en-US" sz="11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03800" y="1874520"/>
            <a:ext cx="470916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Postman collection + 4 request screenshots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6108120" y="1280160"/>
            <a:ext cx="5148000" cy="12981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ffb454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291000" y="1426320"/>
            <a:ext cx="9144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ffb454"/>
                </a:solidFill>
                <a:latin typeface="Arial"/>
              </a:rPr>
              <a:t>ROLE 2</a:t>
            </a:r>
            <a:endParaRPr b="1" lang="en-US" sz="1000" spc="-1" strike="noStrike">
              <a:solidFill>
                <a:srgbClr val="ffb454"/>
              </a:solidFill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251120" y="1407960"/>
            <a:ext cx="3749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f7fa"/>
                </a:solidFill>
                <a:latin typeface="Arial"/>
              </a:rPr>
              <a:t>Stephanus Teo</a:t>
            </a:r>
            <a:endParaRPr b="1" lang="en-US" sz="11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6291000" y="1874520"/>
            <a:ext cx="470916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PCAP + 4 packet analysis screenshots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520920" y="2788920"/>
            <a:ext cx="5148000" cy="12981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6ea8fe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03800" y="2935080"/>
            <a:ext cx="9144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6ea8fe"/>
                </a:solidFill>
                <a:latin typeface="Arial"/>
              </a:rPr>
              <a:t>ROLE 3</a:t>
            </a:r>
            <a:endParaRPr b="1" lang="en-US" sz="1000" spc="-1" strike="noStrike">
              <a:solidFill>
                <a:srgbClr val="6ea8fe"/>
              </a:solidFill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663920" y="2916720"/>
            <a:ext cx="3749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f7fa"/>
                </a:solidFill>
                <a:latin typeface="Arial"/>
              </a:rPr>
              <a:t>Enrico Lazuardi</a:t>
            </a:r>
            <a:endParaRPr b="1" lang="en-US" sz="11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03800" y="3383280"/>
            <a:ext cx="470916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Python parser + CSV + DataFrame evidence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6108120" y="2788920"/>
            <a:ext cx="5148000" cy="1298160"/>
          </a:xfrm>
          <a:prstGeom prst="roundRect">
            <a:avLst/>
          </a:prstGeom>
          <a:solidFill>
            <a:srgbClr val="142438"/>
          </a:solidFill>
          <a:ln w="12600">
            <a:solidFill>
              <a:srgbClr val="54d68c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6291000" y="2935080"/>
            <a:ext cx="9144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00" spc="-1" strike="noStrike">
                <a:solidFill>
                  <a:srgbClr val="54d68c"/>
                </a:solidFill>
                <a:latin typeface="Arial"/>
              </a:rPr>
              <a:t>ROLE 4</a:t>
            </a:r>
            <a:endParaRPr b="1" lang="en-US" sz="1000" spc="-1" strike="noStrike">
              <a:solidFill>
                <a:srgbClr val="54d68c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251120" y="2916720"/>
            <a:ext cx="3749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f7fa"/>
                </a:solidFill>
                <a:latin typeface="Arial"/>
              </a:rPr>
              <a:t>Leroy Christopher Gerson</a:t>
            </a:r>
            <a:endParaRPr b="1" lang="en-US" sz="110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291000" y="3383280"/>
            <a:ext cx="470916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a8b5c6"/>
                </a:solidFill>
                <a:latin typeface="Arial"/>
              </a:rPr>
              <a:t>Report + PPT + repository structure</a:t>
            </a:r>
            <a:endParaRPr b="0" lang="en-US" sz="9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530280" y="4498560"/>
            <a:ext cx="18288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26d0ce"/>
                </a:solidFill>
                <a:latin typeface="Arial"/>
              </a:rPr>
              <a:t>DEMO 60 DETIK</a:t>
            </a:r>
            <a:endParaRPr b="1" lang="en-US" sz="11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530280" y="4892040"/>
            <a:ext cx="1920240" cy="96012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39720" y="5092920"/>
            <a:ext cx="320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500" spc="-1" strike="noStrike">
                <a:solidFill>
                  <a:srgbClr val="26d0ce"/>
                </a:solidFill>
                <a:latin typeface="Arial"/>
              </a:rPr>
              <a:t>1</a:t>
            </a:r>
            <a:endParaRPr b="1" lang="en-US" sz="15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033200" y="5029200"/>
            <a:ext cx="1234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f5f7fa"/>
                </a:solidFill>
                <a:latin typeface="Arial"/>
              </a:rPr>
              <a:t>Postman</a:t>
            </a:r>
            <a:endParaRPr b="1" lang="en-US" sz="10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033200" y="5321520"/>
            <a:ext cx="1234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kirim GET/POST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450520" y="5193720"/>
            <a:ext cx="2923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200" spc="-1" strike="noStrike">
                <a:solidFill>
                  <a:srgbClr val="26d0ce"/>
                </a:solidFill>
                <a:latin typeface="Arial"/>
              </a:rPr>
              <a:t>-&gt;</a:t>
            </a:r>
            <a:endParaRPr b="1" lang="en-US" sz="12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742840" y="4892040"/>
            <a:ext cx="1920240" cy="96012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2852280" y="5092920"/>
            <a:ext cx="320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500" spc="-1" strike="noStrike">
                <a:solidFill>
                  <a:srgbClr val="26d0ce"/>
                </a:solidFill>
                <a:latin typeface="Arial"/>
              </a:rPr>
              <a:t>2</a:t>
            </a:r>
            <a:endParaRPr b="1" lang="en-US" sz="15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3245760" y="5029200"/>
            <a:ext cx="1234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f5f7fa"/>
                </a:solidFill>
                <a:latin typeface="Arial"/>
              </a:rPr>
              <a:t>Wireshark</a:t>
            </a:r>
            <a:endParaRPr b="1" lang="en-US" sz="10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3245760" y="5321520"/>
            <a:ext cx="1234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filter http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663080" y="5193720"/>
            <a:ext cx="2923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200" spc="-1" strike="noStrike">
                <a:solidFill>
                  <a:srgbClr val="26d0ce"/>
                </a:solidFill>
                <a:latin typeface="Arial"/>
              </a:rPr>
              <a:t>-&gt;</a:t>
            </a:r>
            <a:endParaRPr b="1" lang="en-US" sz="12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4955400" y="4892040"/>
            <a:ext cx="1920240" cy="96012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5064840" y="5092920"/>
            <a:ext cx="320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500" spc="-1" strike="noStrike">
                <a:solidFill>
                  <a:srgbClr val="26d0ce"/>
                </a:solidFill>
                <a:latin typeface="Arial"/>
              </a:rPr>
              <a:t>3</a:t>
            </a:r>
            <a:endParaRPr b="1" lang="en-US" sz="15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5458320" y="5029200"/>
            <a:ext cx="1234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f5f7fa"/>
                </a:solidFill>
                <a:latin typeface="Arial"/>
              </a:rPr>
              <a:t>Python</a:t>
            </a:r>
            <a:endParaRPr b="1" lang="en-US" sz="10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5458320" y="5321520"/>
            <a:ext cx="1234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jalankan parser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6875640" y="5193720"/>
            <a:ext cx="2923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200" spc="-1" strike="noStrike">
                <a:solidFill>
                  <a:srgbClr val="26d0ce"/>
                </a:solidFill>
                <a:latin typeface="Arial"/>
              </a:rPr>
              <a:t>-&gt;</a:t>
            </a:r>
            <a:endParaRPr b="1" lang="en-US" sz="12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7167960" y="4892040"/>
            <a:ext cx="1920240" cy="96012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277400" y="5092920"/>
            <a:ext cx="320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500" spc="-1" strike="noStrike">
                <a:solidFill>
                  <a:srgbClr val="26d0ce"/>
                </a:solidFill>
                <a:latin typeface="Arial"/>
              </a:rPr>
              <a:t>4</a:t>
            </a:r>
            <a:endParaRPr b="1" lang="en-US" sz="15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7670880" y="5029200"/>
            <a:ext cx="1234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f5f7fa"/>
                </a:solidFill>
                <a:latin typeface="Arial"/>
              </a:rPr>
              <a:t>CSV</a:t>
            </a:r>
            <a:endParaRPr b="1" lang="en-US" sz="10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7670880" y="5321520"/>
            <a:ext cx="1234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cek 2 x 8 output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9088200" y="5193720"/>
            <a:ext cx="29232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200" spc="-1" strike="noStrike">
                <a:solidFill>
                  <a:srgbClr val="26d0ce"/>
                </a:solidFill>
                <a:latin typeface="Arial"/>
              </a:rPr>
              <a:t>-&gt;</a:t>
            </a:r>
            <a:endParaRPr b="1" lang="en-US" sz="12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9380520" y="4892040"/>
            <a:ext cx="1920240" cy="960120"/>
          </a:xfrm>
          <a:prstGeom prst="roundRect">
            <a:avLst/>
          </a:prstGeom>
          <a:solidFill>
            <a:srgbClr val="1a2d43"/>
          </a:solidFill>
          <a:ln w="12600">
            <a:solidFill>
              <a:srgbClr val="31516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9489960" y="5092920"/>
            <a:ext cx="3200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1" lang="en-US" sz="1500" spc="-1" strike="noStrike">
                <a:solidFill>
                  <a:srgbClr val="26d0ce"/>
                </a:solidFill>
                <a:latin typeface="Arial"/>
              </a:rPr>
              <a:t>5</a:t>
            </a:r>
            <a:endParaRPr b="1" lang="en-US" sz="1500" spc="-1" strike="noStrike">
              <a:solidFill>
                <a:srgbClr val="26d0ce"/>
              </a:solidFill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9883440" y="5029200"/>
            <a:ext cx="1234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f5f7fa"/>
                </a:solidFill>
                <a:latin typeface="Arial"/>
              </a:rPr>
              <a:t>GitHub</a:t>
            </a:r>
            <a:endParaRPr b="1" lang="en-US" sz="1050" spc="-1" strike="noStrike">
              <a:solidFill>
                <a:srgbClr val="f5f7fa"/>
              </a:solidFill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9883440" y="5321520"/>
            <a:ext cx="123444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tunjukkan evidence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530280" y="6126480"/>
            <a:ext cx="109728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850" spc="-1" strike="noStrike">
                <a:solidFill>
                  <a:srgbClr val="a8b5c6"/>
                </a:solidFill>
                <a:latin typeface="Arial"/>
              </a:rPr>
              <a:t>Repository: github.com/LeroyChris/UTS-Communication-Protocol-Kelompok-02</a:t>
            </a:r>
            <a:endParaRPr b="0" lang="en-US" sz="850" spc="-1" strike="noStrike">
              <a:solidFill>
                <a:srgbClr val="a8b5c6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2026-06-09T15:34:40Z</dcterms:created>
  <dc:creator/>
  <dc:description/>
  <dc:language>en-US</dc:language>
  <cp:lastModifiedBy/>
  <dcterms:modified xsi:type="dcterms:W3CDTF">2026-06-09T15:34:43Z</dcterms:modified>
  <cp:revision>1</cp:revision>
  <dc:subject/>
  <dc:title/>
</cp:coreProperties>
</file>